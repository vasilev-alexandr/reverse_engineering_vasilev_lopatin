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67" r:id="rId2"/>
    <p:sldId id="328" r:id="rId3"/>
    <p:sldId id="280" r:id="rId4"/>
    <p:sldId id="486" r:id="rId5"/>
    <p:sldId id="487" r:id="rId6"/>
    <p:sldId id="488" r:id="rId7"/>
    <p:sldId id="490" r:id="rId8"/>
    <p:sldId id="489" r:id="rId9"/>
  </p:sldIdLst>
  <p:sldSz cx="12192000" cy="6858000"/>
  <p:notesSz cx="6858000" cy="9144000"/>
  <p:embeddedFontLst>
    <p:embeddedFont>
      <p:font typeface="等线" panose="02010600030101010101" pitchFamily="2" charset="-122"/>
      <p:regular r:id="rId11"/>
    </p:embeddedFont>
    <p:embeddedFont>
      <p:font typeface="Akrobat" panose="020B0604020202020204" charset="-52"/>
      <p:regular r:id="rId12"/>
      <p:bold r:id="rId13"/>
    </p:embeddedFont>
    <p:embeddedFont>
      <p:font typeface="Akrobat Black" panose="020B0604020202020204" charset="-52"/>
      <p:bold r:id="rId14"/>
    </p:embeddedFont>
    <p:embeddedFont>
      <p:font typeface="Arial Black" panose="020B0A04020102020204" pitchFamily="34" charset="0"/>
      <p:bold r:id="rId15"/>
    </p:embeddedFont>
  </p:embeddedFontLst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5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D2D6E"/>
    <a:srgbClr val="C33674"/>
    <a:srgbClr val="440EA5"/>
    <a:srgbClr val="1604C0"/>
    <a:srgbClr val="3536B0"/>
    <a:srgbClr val="063971"/>
    <a:srgbClr val="8B19A3"/>
    <a:srgbClr val="7D14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A107856-5554-42FB-B03E-39F5DBC370BA}" styleName="Средний стиль 4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3D24B569-3539-B230-BF23-AE29C7851C1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1D6893-FF24-CCB2-32C4-6D3BAD9A3A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>
                <a:latin typeface="+mn-lt"/>
              </a:defRPr>
            </a:lvl1pPr>
          </a:lstStyle>
          <a:p>
            <a:pPr>
              <a:defRPr/>
            </a:pPr>
            <a:fld id="{C8105D2D-B396-4D12-B05A-CB356EB9FD37}" type="datetimeFigureOut">
              <a:rPr lang="ru-RU"/>
              <a:pPr>
                <a:defRPr/>
              </a:pPr>
              <a:t>28.05.2026</a:t>
            </a:fld>
            <a:endParaRPr lang="ru-RU"/>
          </a:p>
        </p:txBody>
      </p:sp>
      <p:sp>
        <p:nvSpPr>
          <p:cNvPr id="2052" name="Образ слайда 3">
            <a:extLst>
              <a:ext uri="{FF2B5EF4-FFF2-40B4-BE49-F238E27FC236}">
                <a16:creationId xmlns:a16="http://schemas.microsoft.com/office/drawing/2014/main" id="{2A0D2549-88B5-1FDE-5A8F-4F379157F188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2053" name="Заметки 4">
            <a:extLst>
              <a:ext uri="{FF2B5EF4-FFF2-40B4-BE49-F238E27FC236}">
                <a16:creationId xmlns:a16="http://schemas.microsoft.com/office/drawing/2014/main" id="{A8EE8950-55E1-A383-27FF-2444CD1F1461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 noProof="0"/>
              <a:t>Образец текста</a:t>
            </a:r>
          </a:p>
          <a:p>
            <a:pPr lvl="1"/>
            <a:r>
              <a:rPr lang="ru-RU" altLang="zh-CN" noProof="0"/>
              <a:t>Второй уровень</a:t>
            </a:r>
          </a:p>
          <a:p>
            <a:pPr lvl="2"/>
            <a:r>
              <a:rPr lang="ru-RU" altLang="zh-CN" noProof="0"/>
              <a:t>Третий уровень</a:t>
            </a:r>
          </a:p>
          <a:p>
            <a:pPr lvl="3"/>
            <a:r>
              <a:rPr lang="ru-RU" altLang="zh-CN" noProof="0"/>
              <a:t>Четвертый уровень</a:t>
            </a:r>
          </a:p>
          <a:p>
            <a:pPr lvl="4"/>
            <a:r>
              <a:rPr lang="ru-RU" altLang="zh-CN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1060073-2E6A-34A2-A2EF-8897974FF6A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8B15A7-9861-5AF3-1585-44B999132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/>
            </a:lvl1pPr>
          </a:lstStyle>
          <a:p>
            <a:fld id="{254866DC-8FB9-43BC-8358-DB11DD4A82D2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94983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Образ слайда 1">
            <a:extLst>
              <a:ext uri="{FF2B5EF4-FFF2-40B4-BE49-F238E27FC236}">
                <a16:creationId xmlns:a16="http://schemas.microsoft.com/office/drawing/2014/main" id="{53AAC0CF-7882-61E7-0A82-F3F5EB63290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4099" name="Заметки 2">
            <a:extLst>
              <a:ext uri="{FF2B5EF4-FFF2-40B4-BE49-F238E27FC236}">
                <a16:creationId xmlns:a16="http://schemas.microsoft.com/office/drawing/2014/main" id="{0792E640-6F8F-25C6-43A9-A45C59DFA48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ED53A4B-D4C9-5910-9D06-407DDBCFAF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0D141B37-D474-459C-9E0F-8C0D0EC0CEEE}" type="slidenum">
              <a:rPr altLang="zh-CN">
                <a:cs typeface="等线" panose="02010600030101010101" pitchFamily="2" charset="-122"/>
              </a:rPr>
              <a:pPr/>
              <a:t>1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C6B7-494F-92C7-EBF8-405FD1FE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6CF7F8E8-DE09-7F1B-B7DA-FE6739A98D1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9E6ED1A-5535-82AE-83B7-29C6A35F098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B2CE3F4-037F-5259-469D-A5BD5244D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687E02-124D-4478-85CC-DFD89EE2273D}" type="slidenum">
              <a:rPr kumimoji="0" altLang="zh-CN" sz="1200" b="0" i="0" u="none" strike="noStrike" kern="120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等线" panose="02010600030101010101" pitchFamily="2" charset="-122"/>
                <a:cs typeface="等线" panose="02010600030101010101" pitchFamily="2" charset="-122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等线" panose="02010600030101010101" pitchFamily="2" charset="-122"/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869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4E9FCA6-A33E-7587-A258-175EFCD4273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0C90C6B1-1E92-1489-6700-06586BDFA0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D0EAF469-AE95-4584-DF0F-84F94594AB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3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8D38-660F-AE0B-DEB2-F740EC0A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CFAB0E63-242B-094A-DAFA-53B0C0AFDE8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FE91EFA-867D-34ED-CAE6-C760344B75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7F19CED6-29B9-502D-B331-88A8C53E4B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4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37393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7E96E-6BF4-18A1-0833-672482B52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2D97E59F-ED32-2517-38DE-6AB7B12AE18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9E9BF53A-A737-21F1-E0F6-21402C7594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84737A37-B59C-89A5-C113-77026BA7F5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5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64444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1F542-FF0B-067F-E115-3B8B3A70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941366C1-70FA-9E19-19C2-4F383F75DF9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4F1BEF24-7E36-9E51-D0E4-157E18C8813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7A4AE3E9-A617-C7D0-7467-383539EA5E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6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9287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AADB7-B3A6-CFF9-43C7-A4A22301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5B6538BE-3239-EAF2-E087-03B2FE959AF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C2884310-8E12-07B1-B2A8-B5EAC11ECF1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5299200F-15A8-4984-ACA8-F2D7C5B9AB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7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2766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709B6-A3CE-0819-4C26-F97FB9E2F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Образ слайда 1">
            <a:extLst>
              <a:ext uri="{FF2B5EF4-FFF2-40B4-BE49-F238E27FC236}">
                <a16:creationId xmlns:a16="http://schemas.microsoft.com/office/drawing/2014/main" id="{A9D1CC66-FB38-3660-4421-C54036506BD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  <p:txBody>
          <a:bodyPr/>
          <a:lstStyle/>
          <a:p>
            <a:endParaRPr lang="ru-RU"/>
          </a:p>
        </p:txBody>
      </p:sp>
      <p:sp>
        <p:nvSpPr>
          <p:cNvPr id="6147" name="Заметки 2">
            <a:extLst>
              <a:ext uri="{FF2B5EF4-FFF2-40B4-BE49-F238E27FC236}">
                <a16:creationId xmlns:a16="http://schemas.microsoft.com/office/drawing/2014/main" id="{F58E4115-F2DE-D7A2-4A1F-C66841E6D4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ru-RU" altLang="zh-CN">
              <a:cs typeface="等线" panose="02010600030101010101" pitchFamily="2" charset="-122"/>
            </a:endParaRPr>
          </a:p>
        </p:txBody>
      </p:sp>
      <p:sp>
        <p:nvSpPr>
          <p:cNvPr id="2" name="Номер слайда 3">
            <a:extLst>
              <a:ext uri="{FF2B5EF4-FFF2-40B4-BE49-F238E27FC236}">
                <a16:creationId xmlns:a16="http://schemas.microsoft.com/office/drawing/2014/main" id="{CD7F50C4-7B2C-D72C-5CE6-EB5696ECEB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fld id="{8D687E02-124D-4478-85CC-DFD89EE2273D}" type="slidenum">
              <a:rPr altLang="zh-CN">
                <a:cs typeface="等线" panose="02010600030101010101" pitchFamily="2" charset="-122"/>
              </a:rPr>
              <a:pPr/>
              <a:t>8</a:t>
            </a:fld>
            <a:endParaRPr lang="en-US" altLang="zh-CN">
              <a:cs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9957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noProof="1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C2ABE4-66CA-FBAE-F148-68232618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9C0F2-78E2-46FF-9166-629315525A25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458B08-277F-AB77-9678-1AEDBCA0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5F25A0-106D-7220-AC99-1EF741A2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F1E390-58D5-46F8-9BB8-613D346979AB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716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BBCFFA-2B60-0D33-14B9-16347B97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019043-AA2D-4600-AFD8-23050D3BDC42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147434-D651-BC98-F3C1-C815E69F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354D81-F9A3-D949-4508-BDA2CA8AA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21CB51-31ED-4C09-A4A0-FBB363AB4F1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702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36581E-5804-E9A8-BEE4-D751DBF2F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060A03-B9C5-4FFE-B137-2043DA7076BB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EA2D86-B09A-C40A-E227-36A84CD41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0FCF3C8-1BAC-C257-2E59-A2E06FCF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42B27E-6C67-4B84-9BF5-73A4FC4A53B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995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3F1E15D9-539E-A388-65EC-F517CEE31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0625-FC0F-4A55-B6A4-1B11F9D1882C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3124E61-3FD1-96D6-E3F5-B802BB450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2D804349-1223-05FC-F119-C8DD8CC22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BB50DF-BE53-45CF-BE31-DF755AFBEC99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630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7" name="Дата 3">
            <a:extLst>
              <a:ext uri="{FF2B5EF4-FFF2-40B4-BE49-F238E27FC236}">
                <a16:creationId xmlns:a16="http://schemas.microsoft.com/office/drawing/2014/main" id="{FFE1A5AB-2FA2-EB97-D7E5-F7E5D4373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A8771A-C258-4F7C-9C56-577225F58644}" type="datetime1">
              <a:rPr lang="ru-RU" smtClean="0"/>
              <a:t>28.05.2026</a:t>
            </a:fld>
            <a:endParaRPr lang="ru-RU"/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3EF1D936-1C13-FDEC-5A4A-E0C7DE19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5B8405F6-1624-0D56-9C97-5CD9735EB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57F18C-6156-4E2E-861F-BD2D152600E4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9918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Дата 3">
            <a:extLst>
              <a:ext uri="{FF2B5EF4-FFF2-40B4-BE49-F238E27FC236}">
                <a16:creationId xmlns:a16="http://schemas.microsoft.com/office/drawing/2014/main" id="{83BA1D94-E263-339E-B6D3-8C777D966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E4C6D7-9D43-4D0D-B6CE-B7FE888DFA5B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998661F-3D46-DDBA-9167-5453D12FB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860C6424-5CF4-4407-7AC6-742C530C4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2DC26D-16D0-4072-A9C2-F73E32D665E3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57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>
            <a:extLst>
              <a:ext uri="{FF2B5EF4-FFF2-40B4-BE49-F238E27FC236}">
                <a16:creationId xmlns:a16="http://schemas.microsoft.com/office/drawing/2014/main" id="{0ED75349-1FF2-B82C-6543-DCEA71F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3D6178-225B-4E17-A144-18738C8E44D9}" type="datetime1">
              <a:rPr lang="ru-RU" smtClean="0"/>
              <a:t>28.05.2026</a:t>
            </a:fld>
            <a:endParaRPr lang="ru-RU"/>
          </a:p>
        </p:txBody>
      </p:sp>
      <p:sp>
        <p:nvSpPr>
          <p:cNvPr id="3" name="Нижний колонтитул 4">
            <a:extLst>
              <a:ext uri="{FF2B5EF4-FFF2-40B4-BE49-F238E27FC236}">
                <a16:creationId xmlns:a16="http://schemas.microsoft.com/office/drawing/2014/main" id="{37CAB170-DFCE-B949-A6D5-0D7F42B69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87BA5E49-7C53-2330-E74E-5F8A12EDC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3D3A62-9975-49A2-A229-F36F92FB7EA0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8979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F7ED9EA-648B-D99B-6F59-60C1E97B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87886-C08E-438B-A97D-17C336AB888F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49528BB1-8F5B-8C4C-BE9A-08DD90CA0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72556A4-9548-26BD-FFCE-46025DD68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CC1B95-8037-48E2-8040-416C98D7C4AD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17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noProof="1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1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noProof="1"/>
              <a:t>Образец текста</a:t>
            </a:r>
          </a:p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F81C3129-2E8E-B3AC-7A10-7A051C1E8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85191-32C7-4D90-A7A3-18B272EEA2FE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74E426-A57A-3682-E571-E8653EE97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D3E7706F-D243-AFC6-D7C5-B162EF35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F2522C-181D-4A71-8DB8-8853F49E3C2E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58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2C1418-F14F-FDBD-0570-E630814B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5275B1-7458-49F2-B69B-F5D94466ED9F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32D6A0-FE00-448F-58D5-B51A9F9D8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E1D47D-F72A-AA5D-8001-C1589EB3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0553FB-7ADB-41A9-B7EB-C872ABECCDF1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84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noProof="1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noProof="1"/>
              <a:t>Образец текста</a:t>
            </a:r>
          </a:p>
          <a:p>
            <a:pPr lvl="1"/>
            <a:r>
              <a:rPr lang="ru-RU" noProof="1"/>
              <a:t>Второй уровень</a:t>
            </a:r>
          </a:p>
          <a:p>
            <a:pPr lvl="2"/>
            <a:r>
              <a:rPr lang="ru-RU" noProof="1"/>
              <a:t>Третий уровень</a:t>
            </a:r>
          </a:p>
          <a:p>
            <a:pPr lvl="3"/>
            <a:r>
              <a:rPr lang="ru-RU" noProof="1"/>
              <a:t>Четвертый уровень</a:t>
            </a:r>
          </a:p>
          <a:p>
            <a:pPr lvl="4"/>
            <a:r>
              <a:rPr lang="ru-RU" noProof="1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9BA74B-016D-D9B8-2B0C-2B04C83D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BFEF6-68F3-4A89-9AD1-5470280F4BC4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8BAF24-B361-0A1F-06CC-FA2E0B5CB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A6F744-F544-E81F-F2B3-9AF85B83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7BF8C-8CDF-489C-9A49-5B985D2732EA}" type="slidenum">
              <a:rPr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72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0708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>
            <a:extLst>
              <a:ext uri="{FF2B5EF4-FFF2-40B4-BE49-F238E27FC236}">
                <a16:creationId xmlns:a16="http://schemas.microsoft.com/office/drawing/2014/main" id="{74071D2B-B61E-184E-7103-129237AF813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:a16="http://schemas.microsoft.com/office/drawing/2014/main" id="{72020E1D-F62F-A1CE-AB98-A89265EF7BB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zh-CN"/>
              <a:t>Образец текста</a:t>
            </a:r>
          </a:p>
          <a:p>
            <a:pPr lvl="1"/>
            <a:r>
              <a:rPr lang="ru-RU" altLang="zh-CN"/>
              <a:t>Второй уровень</a:t>
            </a:r>
          </a:p>
          <a:p>
            <a:pPr lvl="2"/>
            <a:r>
              <a:rPr lang="ru-RU" altLang="zh-CN"/>
              <a:t>Третий уровень</a:t>
            </a:r>
          </a:p>
          <a:p>
            <a:pPr lvl="3"/>
            <a:r>
              <a:rPr lang="ru-RU" altLang="zh-CN"/>
              <a:t>Четвертый уровень</a:t>
            </a:r>
          </a:p>
          <a:p>
            <a:pPr lvl="4"/>
            <a:r>
              <a:rPr lang="ru-RU" altLang="zh-CN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C2C9DE-9BB2-61D7-BAB2-FCDB06158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BA1AC42D-45EC-4968-A3B2-7E904D52A6B0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977651-4749-99BC-B2D3-C1DCB553A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defRPr sz="1200" noProof="1">
                <a:solidFill>
                  <a:schemeClr val="tx1">
                    <a:tint val="82000"/>
                  </a:schemeClr>
                </a:solidFill>
                <a:latin typeface="Aptos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9F982E-F481-979B-A42F-EA02538FC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noProof="1">
                <a:solidFill>
                  <a:srgbClr val="767676"/>
                </a:solidFill>
              </a:defRPr>
            </a:lvl1pPr>
          </a:lstStyle>
          <a:p>
            <a:fld id="{EE380E60-B8F9-48F5-9BBB-CB01B607B2F8}" type="slidenum">
              <a:rPr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Jeelislive/Github-Analyzer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Vasilev-alexandr/Reverse_Engineering_Vasilev_lopatin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Box 32">
            <a:extLst>
              <a:ext uri="{FF2B5EF4-FFF2-40B4-BE49-F238E27FC236}">
                <a16:creationId xmlns:a16="http://schemas.microsoft.com/office/drawing/2014/main" id="{3FE59A19-9F1C-000F-1058-19E9E50ADD1D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66725" y="4183063"/>
            <a:ext cx="4335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latin typeface="Akrobat" pitchFamily="2" charset="-52"/>
                <a:cs typeface="等线" panose="02010600030101010101" pitchFamily="2" charset="-122"/>
              </a:rPr>
              <a:t>Лопатин Артём – 3 курс, ИТТСУ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AutoNum type="arabicPeriod"/>
            </a:pPr>
            <a:r>
              <a:rPr lang="ru-RU" altLang="zh-CN" sz="1800" dirty="0">
                <a:latin typeface="Akrobat" pitchFamily="2" charset="-52"/>
                <a:cs typeface="等线" panose="02010600030101010101" pitchFamily="2" charset="-122"/>
              </a:rPr>
              <a:t>Васильев Александр – 3 курс, ИТТСУ</a:t>
            </a:r>
          </a:p>
        </p:txBody>
      </p:sp>
      <p:sp>
        <p:nvSpPr>
          <p:cNvPr id="86" name="Скругленный прямоугольник 85">
            <a:extLst>
              <a:ext uri="{FF2B5EF4-FFF2-40B4-BE49-F238E27FC236}">
                <a16:creationId xmlns:a16="http://schemas.microsoft.com/office/drawing/2014/main" id="{FED8E283-9887-9B58-72A0-21D604CD1A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6738" y="1574800"/>
            <a:ext cx="5226050" cy="1763713"/>
          </a:xfrm>
          <a:prstGeom prst="roundRect">
            <a:avLst>
              <a:gd name="adj" fmla="val 6900"/>
            </a:avLst>
          </a:prstGeom>
          <a:noFill/>
          <a:ln w="38100">
            <a:solidFill>
              <a:schemeClr val="bg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sp>
        <p:nvSpPr>
          <p:cNvPr id="3079" name="TextBox 11">
            <a:extLst>
              <a:ext uri="{FF2B5EF4-FFF2-40B4-BE49-F238E27FC236}">
                <a16:creationId xmlns:a16="http://schemas.microsoft.com/office/drawing/2014/main" id="{646DB2D0-077C-2581-20C0-46599ED8F0FE}"/>
              </a:ext>
            </a:extLst>
          </p:cNvPr>
          <p:cNvSpPr txBox="1">
            <a:spLocks noGrp="1" noRot="1" noMove="1" noResize="1" noEditPoints="1" noAdjustHandles="1" noChangeArrowheads="1"/>
          </p:cNvSpPr>
          <p:nvPr/>
        </p:nvSpPr>
        <p:spPr bwMode="auto">
          <a:xfrm>
            <a:off x="444500" y="3721100"/>
            <a:ext cx="32956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 panose="020B00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 panose="020B00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 panose="020B00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zh-CN" sz="2400" b="1" dirty="0">
                <a:latin typeface="Akrobat Black" pitchFamily="2" charset="-52"/>
                <a:cs typeface="等线" panose="02010600030101010101" pitchFamily="2" charset="-122"/>
              </a:rPr>
              <a:t>КОМАНДА</a:t>
            </a:r>
            <a:r>
              <a:rPr lang="en-US" altLang="ru-RU" sz="2400" b="1" dirty="0">
                <a:latin typeface="Akrobat Black" pitchFamily="2" charset="-52"/>
              </a:rPr>
              <a:t>:</a:t>
            </a:r>
            <a:endParaRPr lang="ru-RU" altLang="zh-CN" sz="2400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8B509149-C64E-D086-21CC-A49DD6B103B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6" name="Рисунок 33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20C66973-C85B-8AD6-C87B-9128DC86552E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Овал 19">
            <a:extLst>
              <a:ext uri="{FF2B5EF4-FFF2-40B4-BE49-F238E27FC236}">
                <a16:creationId xmlns:a16="http://schemas.microsoft.com/office/drawing/2014/main" id="{43857354-F8A8-2E53-4DB3-C5F9862B009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88" name="Рисунок 27">
            <a:extLst>
              <a:ext uri="{FF2B5EF4-FFF2-40B4-BE49-F238E27FC236}">
                <a16:creationId xmlns:a16="http://schemas.microsoft.com/office/drawing/2014/main" id="{655ACD81-C1FB-0A61-CD0F-7BC66E6000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08E3B59A-D6FD-7B6C-FAA5-09773995145F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1610000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3090" name="Рисунок 24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21D669E5-A011-257D-D60C-6023482BBD3A}"/>
              </a:ext>
            </a:extLst>
          </p:cNvPr>
          <p:cNvPicPr>
            <a:picLocks noGrp="1" noRot="1" noChangeAspec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E71FC67-D15C-4B72-B6BB-AF59EDE1E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1</a:t>
            </a:fld>
            <a:endParaRPr lang="ru-RU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2B965E-A9FC-E840-B336-9B52E1BF743D}"/>
              </a:ext>
            </a:extLst>
          </p:cNvPr>
          <p:cNvSpPr txBox="1"/>
          <p:nvPr/>
        </p:nvSpPr>
        <p:spPr>
          <a:xfrm>
            <a:off x="446690" y="4884599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zh-CN" b="1" dirty="0">
                <a:latin typeface="Akrobat Black" pitchFamily="2" charset="-52"/>
                <a:cs typeface="等线" panose="02010600030101010101" pitchFamily="2" charset="-122"/>
              </a:rPr>
              <a:t>НАСТАВНИКИ</a:t>
            </a:r>
            <a:r>
              <a:rPr lang="en-US" altLang="ru-RU" b="1" dirty="0">
                <a:latin typeface="Akrobat Black" pitchFamily="2" charset="-52"/>
              </a:rPr>
              <a:t>:</a:t>
            </a:r>
            <a:endParaRPr lang="ru-RU" altLang="zh-CN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FE2C2-E52B-1E40-6855-646B39671DBF}"/>
              </a:ext>
            </a:extLst>
          </p:cNvPr>
          <p:cNvSpPr txBox="1"/>
          <p:nvPr/>
        </p:nvSpPr>
        <p:spPr>
          <a:xfrm>
            <a:off x="466725" y="5194300"/>
            <a:ext cx="5656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ru-RU" altLang="zh-CN" sz="1600" dirty="0">
                <a:latin typeface="Akrobat" pitchFamily="2" charset="-52"/>
              </a:rPr>
              <a:t>Сидоренко Валентина Геннадьевна – проф., доктор технических наук</a:t>
            </a:r>
            <a:endParaRPr lang="en-US" altLang="zh-CN" sz="1600" dirty="0">
              <a:latin typeface="Akrobat" pitchFamily="2" charset="-52"/>
            </a:endParaRPr>
          </a:p>
          <a:p>
            <a:pPr eaLnBrk="1" hangingPunct="1"/>
            <a:r>
              <a:rPr lang="en-US" altLang="zh-CN" sz="1600" dirty="0">
                <a:latin typeface="Akrobat" pitchFamily="2" charset="-52"/>
              </a:rPr>
              <a:t>C</a:t>
            </a:r>
            <a:r>
              <a:rPr lang="ru-RU" altLang="zh-CN" sz="1600" dirty="0" err="1">
                <a:latin typeface="Akrobat" pitchFamily="2" charset="-52"/>
              </a:rPr>
              <a:t>афронов</a:t>
            </a:r>
            <a:r>
              <a:rPr lang="ru-RU" altLang="zh-CN" sz="1600" dirty="0">
                <a:latin typeface="Akrobat" pitchFamily="2" charset="-52"/>
              </a:rPr>
              <a:t> Антон Игоревич – доцент, кандидат технических наук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F0E75A-1E8A-BE03-08AE-89CA6247B855}"/>
              </a:ext>
            </a:extLst>
          </p:cNvPr>
          <p:cNvSpPr txBox="1"/>
          <p:nvPr/>
        </p:nvSpPr>
        <p:spPr>
          <a:xfrm>
            <a:off x="466725" y="5779075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altLang="en-US" b="1" dirty="0">
                <a:latin typeface="Akrobat Black" pitchFamily="2" charset="-52"/>
              </a:rPr>
              <a:t>КАФЕДРА</a:t>
            </a:r>
            <a:r>
              <a:rPr lang="en-US" altLang="en-US" b="1" dirty="0">
                <a:latin typeface="Akrobat Black" pitchFamily="2" charset="-52"/>
              </a:rPr>
              <a:t>:</a:t>
            </a:r>
            <a:endParaRPr lang="ru-RU" altLang="zh-CN" b="1" dirty="0">
              <a:latin typeface="Akrobat Black" pitchFamily="2" charset="-52"/>
              <a:cs typeface="等线" panose="02010600030101010101" pitchFamily="2" charset="-12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6B9CAA-333F-9FCC-F40B-A956D0ACF885}"/>
              </a:ext>
            </a:extLst>
          </p:cNvPr>
          <p:cNvSpPr txBox="1"/>
          <p:nvPr/>
        </p:nvSpPr>
        <p:spPr>
          <a:xfrm>
            <a:off x="466725" y="6086852"/>
            <a:ext cx="36952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/>
            <a:r>
              <a:rPr lang="en-US" altLang="zh-CN" sz="2000" dirty="0">
                <a:latin typeface="Akrobat" pitchFamily="2" charset="-52"/>
              </a:rPr>
              <a:t>"</a:t>
            </a:r>
            <a:r>
              <a:rPr lang="ru-RU" altLang="zh-CN" sz="2000" dirty="0">
                <a:latin typeface="Akrobat" pitchFamily="2" charset="-52"/>
              </a:rPr>
              <a:t>Управление и защита информации</a:t>
            </a:r>
            <a:r>
              <a:rPr lang="en-US" altLang="zh-CN" sz="2000" dirty="0">
                <a:latin typeface="Akrobat" pitchFamily="2" charset="-52"/>
              </a:rPr>
              <a:t>”</a:t>
            </a:r>
            <a:r>
              <a:rPr lang="ru-RU" altLang="zh-CN" sz="2000" dirty="0">
                <a:latin typeface="Akrobat" pitchFamily="2" charset="-52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8028CF-B3EB-1809-51A9-C7FF62BBF5D3}"/>
              </a:ext>
            </a:extLst>
          </p:cNvPr>
          <p:cNvSpPr txBox="1"/>
          <p:nvPr/>
        </p:nvSpPr>
        <p:spPr>
          <a:xfrm>
            <a:off x="660468" y="1386722"/>
            <a:ext cx="5038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Отчет по лабораторной работе №</a:t>
            </a:r>
            <a:r>
              <a:rPr lang="en-US" dirty="0"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</a:t>
            </a:r>
            <a:endParaRPr lang="ru-RU" dirty="0"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E18EE-9F0D-D35A-1A74-8A9CCCF58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723B00D0-B7C8-9967-E8BE-A5D3476713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F0A90A14-B378-EE29-C717-B8D7B2D43913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1918DE5A-CE5D-5E82-CEFB-A56C2895E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E133910A-2C99-F7FB-2B51-A14830F12A9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D0B3D9B5-41BB-EDC5-B600-28A96EC409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A70FC40E-6489-90BF-66A9-AF0072D269F9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931E3F8-9886-9AFE-D084-B33D88BA2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F1E390-58D5-46F8-9BB8-613D346979AB}" type="slidenum">
              <a:rPr kumimoji="0" lang="ru-RU" altLang="en-US" sz="1200" b="0" i="0" u="none" strike="noStrike" kern="1200" cap="none" spc="0" normalizeH="0" baseline="0" noProof="1" smtClean="0">
                <a:ln>
                  <a:noFill/>
                </a:ln>
                <a:solidFill>
                  <a:srgbClr val="767676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altLang="en-US" sz="1200" b="0" i="0" u="none" strike="noStrike" kern="1200" cap="none" spc="0" normalizeH="0" baseline="0" noProof="1">
              <a:ln>
                <a:noFill/>
              </a:ln>
              <a:solidFill>
                <a:srgbClr val="767676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D43AE4-9548-BB5C-4ED6-9FF8351FDEFD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Формулировка задания для варианта №9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A8F199-DB3B-B203-07AB-21C3ABAAD86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8098" y="2793125"/>
            <a:ext cx="9335803" cy="127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504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25C5AB-54E3-37E6-BF5E-C22B6E0E1B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80"/>
          <a:stretch>
            <a:fillRect/>
          </a:stretch>
        </p:blipFill>
        <p:spPr>
          <a:xfrm>
            <a:off x="333052" y="1194659"/>
            <a:ext cx="8520943" cy="4424906"/>
          </a:xfrm>
          <a:prstGeom prst="rect">
            <a:avLst/>
          </a:prstGeom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F3696E3D-4A56-2548-2F07-55F12C75A4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076F6B9F-CD0A-71B8-CB9F-52F0EBD98194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01D9755-77E2-02B3-A2E7-CF079C081B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48494700-E735-790E-C51C-476C510E37AF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B9587E58-F5B6-0507-E6E6-B9B6D69050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FD01C6F9-BBDF-0EB4-F69F-43904BA577E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A5631AA-A306-4883-A03F-D11F680D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3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260788-9AAC-9F39-5A9F-BC3533D2762A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GitHub Analyzer</a:t>
            </a:r>
            <a:endParaRPr lang="ru-RU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83A2AD-DDB7-095F-79E7-FE9382A5C80F}"/>
              </a:ext>
            </a:extLst>
          </p:cNvPr>
          <p:cNvSpPr txBox="1"/>
          <p:nvPr/>
        </p:nvSpPr>
        <p:spPr>
          <a:xfrm>
            <a:off x="4003829" y="5433020"/>
            <a:ext cx="7750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Инструмент </a:t>
            </a:r>
            <a:r>
              <a:rPr lang="ru-RU" u="sng" dirty="0" err="1">
                <a:hlinkClick r:id="rId8"/>
              </a:rPr>
              <a:t>GitHub</a:t>
            </a:r>
            <a:r>
              <a:rPr lang="ru-RU" u="sng" dirty="0">
                <a:hlinkClick r:id="rId8"/>
              </a:rPr>
              <a:t> </a:t>
            </a:r>
            <a:r>
              <a:rPr lang="ru-RU" u="sng" dirty="0" err="1">
                <a:hlinkClick r:id="rId8"/>
              </a:rPr>
              <a:t>Analyzer</a:t>
            </a:r>
            <a:r>
              <a:rPr lang="ru-RU" dirty="0"/>
              <a:t> представляет собой открытое веб-приложение с открытым исходным кодом, разработанное на базе Next.js 15, </a:t>
            </a:r>
            <a:r>
              <a:rPr lang="ru-RU" dirty="0" err="1"/>
              <a:t>Prisma</a:t>
            </a:r>
            <a:r>
              <a:rPr lang="ru-RU" dirty="0"/>
              <a:t> ORM и </a:t>
            </a:r>
            <a:r>
              <a:rPr lang="ru-RU" dirty="0" err="1"/>
              <a:t>Supabase</a:t>
            </a:r>
            <a:r>
              <a:rPr lang="ru-RU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7F068-D862-4D4B-30AD-6F0893F9C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489EC46-4424-DF54-C8F3-B54B87658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171" y="1270909"/>
            <a:ext cx="8243126" cy="4316181"/>
          </a:xfrm>
          <a:prstGeom prst="rect">
            <a:avLst/>
          </a:prstGeom>
        </p:spPr>
      </p:pic>
      <p:sp>
        <p:nvSpPr>
          <p:cNvPr id="22" name="Овал 21">
            <a:extLst>
              <a:ext uri="{FF2B5EF4-FFF2-40B4-BE49-F238E27FC236}">
                <a16:creationId xmlns:a16="http://schemas.microsoft.com/office/drawing/2014/main" id="{05C646A1-B9BD-5792-8420-A11C79B41F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517054FC-DEC6-40C9-EAC7-2637D0A13EC7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C5069D4C-21CD-70DC-9B4A-41D8FF377A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CB20EC0D-E25F-68D5-BD77-34F765F5735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48CDB10-4AF5-CA4F-6DE1-5D83423D68E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E8ECE2F0-8F8D-3FF7-D955-7854908FFB05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78BCCDA-1400-2F1E-9C1E-F6E022077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4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390886-69C6-6A67-5BD7-914D8B51149E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Анализируемый репозиторий на </a:t>
            </a:r>
            <a:r>
              <a:rPr lang="en-US" sz="2000" b="1" dirty="0"/>
              <a:t>GitHub</a:t>
            </a:r>
            <a:endParaRPr lang="ru-RU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EDDAFB-CCEA-7B05-9B9B-AC33F35F2663}"/>
              </a:ext>
            </a:extLst>
          </p:cNvPr>
          <p:cNvSpPr txBox="1"/>
          <p:nvPr/>
        </p:nvSpPr>
        <p:spPr>
          <a:xfrm>
            <a:off x="8469297" y="1720839"/>
            <a:ext cx="36053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проведения эксперимента был использован наш </a:t>
            </a:r>
            <a:r>
              <a:rPr lang="ru-RU" u="sng" dirty="0">
                <a:hlinkClick r:id="rId8"/>
              </a:rPr>
              <a:t>собственный репозиторий</a:t>
            </a:r>
            <a:r>
              <a:rPr lang="ru-RU" dirty="0"/>
              <a:t>. Данный репозиторий представляет собой собрание практических заданий по дисциплине «Реверс-инжиниринг» и содержит четыре директории: Task1, Task2, task3 и Task4, в которых размещены исходные коды и отчёты по выполненным заданиям.</a:t>
            </a:r>
          </a:p>
        </p:txBody>
      </p:sp>
    </p:spTree>
    <p:extLst>
      <p:ext uri="{BB962C8B-B14F-4D97-AF65-F5344CB8AC3E}">
        <p14:creationId xmlns:p14="http://schemas.microsoft.com/office/powerpoint/2010/main" val="3864934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87BE1-597F-F95E-2210-819F2E02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342C7BF3-B6CA-E25E-5C06-6A68B90F7D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CAF92316-4D4A-BB4E-DB4A-07CD87B8E040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98213864-6748-972E-86E6-69F5DA8BA9C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38638794-474C-6CDE-BF26-F603505F779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42B7115B-A2F4-B388-409E-629F3C107F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426DF0A6-AA7E-22CE-2E97-8CD81464BBFC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8A75852-9F23-FF29-2CF4-2E626C5DA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5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0882E-873B-C995-E5B6-241DD28AA100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Результат анализа репозитория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FAF25-31FF-C5EA-C109-5E93A1185CE9}"/>
              </a:ext>
            </a:extLst>
          </p:cNvPr>
          <p:cNvSpPr txBox="1"/>
          <p:nvPr/>
        </p:nvSpPr>
        <p:spPr>
          <a:xfrm>
            <a:off x="7603906" y="1743908"/>
            <a:ext cx="42642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 помощью инструмента </a:t>
            </a:r>
            <a:r>
              <a:rPr lang="ru-RU" dirty="0" err="1"/>
              <a:t>GitHub</a:t>
            </a:r>
            <a:r>
              <a:rPr lang="ru-RU" dirty="0"/>
              <a:t> </a:t>
            </a:r>
            <a:r>
              <a:rPr lang="ru-RU" dirty="0" err="1"/>
              <a:t>Analyzer</a:t>
            </a:r>
            <a:r>
              <a:rPr lang="ru-RU" dirty="0"/>
              <a:t> была получена базовая статистика репозитория</a:t>
            </a:r>
            <a:r>
              <a:rPr lang="en-US" dirty="0"/>
              <a:t>. </a:t>
            </a:r>
            <a:r>
              <a:rPr lang="ru-RU" dirty="0"/>
              <a:t>Инструмент успешно определил общую активность репозитория и ключевые метрики разработки. Однако функции выявления «горячих точек» кода (наиболее часто изменяемые файлы), анализа частоты модификаций отдельных модулей, корреляции изменений с задачами типа </a:t>
            </a:r>
            <a:r>
              <a:rPr lang="ru-RU" dirty="0" err="1"/>
              <a:t>bug</a:t>
            </a:r>
            <a:r>
              <a:rPr lang="ru-RU" dirty="0"/>
              <a:t>/</a:t>
            </a:r>
            <a:r>
              <a:rPr lang="ru-RU" dirty="0" err="1"/>
              <a:t>fix</a:t>
            </a:r>
            <a:r>
              <a:rPr lang="ru-RU" dirty="0"/>
              <a:t>, а также AI-рекомендации по техническому долгу и архитектурные </a:t>
            </a:r>
            <a:r>
              <a:rPr lang="ru-RU" dirty="0" err="1"/>
              <a:t>insights</a:t>
            </a:r>
            <a:r>
              <a:rPr lang="ru-RU" dirty="0"/>
              <a:t> в бесплатной версии полностью недоступны.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343600-4B8D-CA45-9D81-DDE4518975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0111" y="2271683"/>
            <a:ext cx="6669375" cy="2314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44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E09C68-6481-D151-1CC6-88F7E32FD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5E8DE8F4-AF95-B792-6495-0DE0DA8789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AD641C0-1C70-9004-F057-4282059F02FF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5412BC7D-6E17-4472-2521-060F1C537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767B13B6-39B1-ADBB-0758-29759FA9B8D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7D44DCBE-8892-4BC9-EB8F-8E9E9F56F50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037699B3-F8A6-0520-8B16-B98B7C0C92B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22005C-D337-75EF-F754-655A937F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6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B698D-97CD-A53A-09C0-DAF15F8DB68B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Сравнительная таблица функционала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B6E6B3B3-8F29-C1F3-59DD-6ABBF37D5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602297"/>
              </p:ext>
            </p:extLst>
          </p:nvPr>
        </p:nvGraphicFramePr>
        <p:xfrm>
          <a:off x="1248237" y="1261045"/>
          <a:ext cx="9695525" cy="4639219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6675427">
                  <a:extLst>
                    <a:ext uri="{9D8B030D-6E8A-4147-A177-3AD203B41FA5}">
                      <a16:colId xmlns:a16="http://schemas.microsoft.com/office/drawing/2014/main" val="298121886"/>
                    </a:ext>
                  </a:extLst>
                </a:gridCol>
                <a:gridCol w="1510049">
                  <a:extLst>
                    <a:ext uri="{9D8B030D-6E8A-4147-A177-3AD203B41FA5}">
                      <a16:colId xmlns:a16="http://schemas.microsoft.com/office/drawing/2014/main" val="4065679602"/>
                    </a:ext>
                  </a:extLst>
                </a:gridCol>
                <a:gridCol w="1510049">
                  <a:extLst>
                    <a:ext uri="{9D8B030D-6E8A-4147-A177-3AD203B41FA5}">
                      <a16:colId xmlns:a16="http://schemas.microsoft.com/office/drawing/2014/main" val="545098299"/>
                    </a:ext>
                  </a:extLst>
                </a:gridCol>
              </a:tblGrid>
              <a:tr h="485075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Функция / возможность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Бесплатная версия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Платная версия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82100090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Базовая статистика коммитов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81879720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Статистика Pull Requests (merged / open)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19198351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Показатель </a:t>
                      </a:r>
                      <a:r>
                        <a:rPr lang="ru-RU" sz="1100" dirty="0" err="1">
                          <a:effectLst/>
                        </a:rPr>
                        <a:t>streak</a:t>
                      </a:r>
                      <a:r>
                        <a:rPr lang="ru-RU" sz="1100" dirty="0">
                          <a:effectLst/>
                        </a:rPr>
                        <a:t> разработки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41182432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Среднее время код-ревью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86238933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Авторизация через GitHub OAuth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56374180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Чат сообщества разработчиков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793225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Статистика активности репозитория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45783293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AI Insights на основе Gemini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19268847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Выявление «горячих точек» кода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6869977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Анализ частоты изменений модулей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107495013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Корреляция изменений с bug/fix задачами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55097594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Рекомендации по техническому долгу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030568059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Архитектурные инсайты и визуализация (Mermaid)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43371351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Детальный анализ активности команды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13395867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Оценка бизнес-ценности и рисков проекта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61685260"/>
                  </a:ext>
                </a:extLst>
              </a:tr>
              <a:tr h="25963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Расширенный анализ репозитория (Enhanced API)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rgbClr val="FF0000"/>
                          </a:solidFill>
                          <a:effectLst/>
                        </a:rPr>
                        <a:t>✗</a:t>
                      </a:r>
                      <a:endParaRPr lang="ru-RU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dirty="0">
                          <a:solidFill>
                            <a:schemeClr val="accent6"/>
                          </a:solidFill>
                          <a:effectLst/>
                        </a:rPr>
                        <a:t>✓</a:t>
                      </a:r>
                      <a:endParaRPr lang="ru-RU" sz="1100" dirty="0">
                        <a:solidFill>
                          <a:schemeClr val="accent6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9296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99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8DA04-8D0A-EDEE-8549-AD0E83554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8E97F583-2ECF-50D1-C8EF-40C6D9A757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3CC754A0-EADD-6FBE-EAF2-A8EDB82A0B2A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6B01D718-70E9-2EF0-7264-8172740098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ED3A677C-B288-822B-2F27-261A01B6868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C6C2A610-B040-5DF5-077D-C5907C4979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9540621B-3457-D21E-5A92-E873BDACDF05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ACB641-4650-36C4-EBC5-9D9CABEDD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7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51D0FA-715F-22DE-909F-D3B1B65762FC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Сравнительная таблица функционала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0583E7BC-67FC-46F1-394F-69896D6E42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175000"/>
              </p:ext>
            </p:extLst>
          </p:nvPr>
        </p:nvGraphicFramePr>
        <p:xfrm>
          <a:off x="1660702" y="1204302"/>
          <a:ext cx="8870596" cy="5152048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5186412">
                  <a:extLst>
                    <a:ext uri="{9D8B030D-6E8A-4147-A177-3AD203B41FA5}">
                      <a16:colId xmlns:a16="http://schemas.microsoft.com/office/drawing/2014/main" val="1762304529"/>
                    </a:ext>
                  </a:extLst>
                </a:gridCol>
                <a:gridCol w="1842092">
                  <a:extLst>
                    <a:ext uri="{9D8B030D-6E8A-4147-A177-3AD203B41FA5}">
                      <a16:colId xmlns:a16="http://schemas.microsoft.com/office/drawing/2014/main" val="3535702643"/>
                    </a:ext>
                  </a:extLst>
                </a:gridCol>
                <a:gridCol w="1842092">
                  <a:extLst>
                    <a:ext uri="{9D8B030D-6E8A-4147-A177-3AD203B41FA5}">
                      <a16:colId xmlns:a16="http://schemas.microsoft.com/office/drawing/2014/main" val="2997352356"/>
                    </a:ext>
                  </a:extLst>
                </a:gridCol>
              </a:tblGrid>
              <a:tr h="465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Функция / возможность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GitHub Analyzer (бесплатная)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Githru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67146385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Базовая статистика коммитов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87741251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Визуализация истории коммитов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62859224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Статистика Pull Requests (merged / open)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49715489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Среднее время код-ревью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957627667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Показатель streak разработки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73992613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Авторизация через GitHub OAuth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959979094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Работа с локальным репозиторием (без интернета)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41968658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Интеграция с VS Code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11584281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Интерактивный граф ветвления (stem graph)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32530733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Кластеризация коммитов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8006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Сравнение кластеров коммитов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93389534"/>
                  </a:ext>
                </a:extLst>
              </a:tr>
              <a:tr h="46545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Выявление «горячих точек» (файлы с макс. изменениями)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93663816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 dirty="0">
                          <a:effectLst/>
                        </a:rPr>
                        <a:t>Иерархия изменённых файлов (</a:t>
                      </a:r>
                      <a:r>
                        <a:rPr lang="ru-RU" sz="1100" dirty="0" err="1">
                          <a:effectLst/>
                        </a:rPr>
                        <a:t>file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icicle</a:t>
                      </a:r>
                      <a:r>
                        <a:rPr lang="ru-RU" sz="1100" dirty="0">
                          <a:effectLst/>
                        </a:rPr>
                        <a:t> </a:t>
                      </a:r>
                      <a:r>
                        <a:rPr lang="ru-RU" sz="1100" dirty="0" err="1">
                          <a:effectLst/>
                        </a:rPr>
                        <a:t>tree</a:t>
                      </a:r>
                      <a:r>
                        <a:rPr lang="ru-RU" sz="1100" dirty="0">
                          <a:effectLst/>
                        </a:rPr>
                        <a:t>)</a:t>
                      </a:r>
                      <a:endParaRPr lang="ru-R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357472503"/>
                  </a:ext>
                </a:extLst>
              </a:tr>
              <a:tr h="2491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Анализ изменённых строк кода (CLOC)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chemeClr val="accent6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✓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681280591"/>
                  </a:ext>
                </a:extLst>
              </a:tr>
              <a:tr h="2456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AI Insights и рекомендации (Gemini)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74030718"/>
                  </a:ext>
                </a:extLst>
              </a:tr>
              <a:tr h="2456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Архитектурные диаграммы (Mermaid)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69216316"/>
                  </a:ext>
                </a:extLst>
              </a:tr>
              <a:tr h="2456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Детальный анализ активности команды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453428251"/>
                  </a:ext>
                </a:extLst>
              </a:tr>
              <a:tr h="2456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100">
                          <a:effectLst/>
                        </a:rPr>
                        <a:t>Рекомендации по техническому долгу</a:t>
                      </a:r>
                      <a:endParaRPr lang="ru-R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✗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15710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9584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4F549-9659-1EA8-AFCA-6E8D1861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C6E16B97-20BE-7E6E-BCBF-2EDF3343CB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38" name="Рисунок 22" descr="Изображение выглядит как Шрифт, Графика, снимок экран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9F22FBC6-E676-76FB-E017-47865499984D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294"/>
          <a:stretch>
            <a:fillRect/>
          </a:stretch>
        </p:blipFill>
        <p:spPr bwMode="auto">
          <a:xfrm>
            <a:off x="2147483647" y="1260782975"/>
            <a:ext cx="742950000" cy="737512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969FB9EB-C7BD-D094-F211-157461554F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91638425"/>
            <a:ext cx="1448228625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0" name="Рисунок 24">
            <a:extLst>
              <a:ext uri="{FF2B5EF4-FFF2-40B4-BE49-F238E27FC236}">
                <a16:creationId xmlns:a16="http://schemas.microsoft.com/office/drawing/2014/main" id="{65E7F1D1-763B-298A-D78A-A247B669245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" t="5392" r="71927" b="9119"/>
          <a:stretch>
            <a:fillRect/>
          </a:stretch>
        </p:blipFill>
        <p:spPr bwMode="auto">
          <a:xfrm>
            <a:off x="2147483647" y="1051829875"/>
            <a:ext cx="1021600700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Овал 25">
            <a:extLst>
              <a:ext uri="{FF2B5EF4-FFF2-40B4-BE49-F238E27FC236}">
                <a16:creationId xmlns:a16="http://schemas.microsoft.com/office/drawing/2014/main" id="{1AC1A976-1E4D-7D4D-3A27-F1807AA62D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147483647" y="870645325"/>
            <a:ext cx="1452154513" cy="145161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ru-RU" noProof="1"/>
          </a:p>
        </p:txBody>
      </p:sp>
      <p:pic>
        <p:nvPicPr>
          <p:cNvPr id="5142" name="Рисунок 26" descr="Изображение выглядит как символ, корона, герб, эмблема&#10;&#10;Автоматически созданное описание">
            <a:extLst>
              <a:ext uri="{FF2B5EF4-FFF2-40B4-BE49-F238E27FC236}">
                <a16:creationId xmlns:a16="http://schemas.microsoft.com/office/drawing/2014/main" id="{977D89DE-E325-F0B9-9A5C-DC2779C7054E}"/>
              </a:ext>
            </a:extLst>
          </p:cNvPr>
          <p:cNvPicPr>
            <a:picLocks noGrp="1" noRot="1" noMove="1" noResize="1" noEditPoints="1" noAdjustHandles="1" noChangeArrowheads="1" noCrop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483647" y="1051829875"/>
            <a:ext cx="1044630563" cy="11430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911CE6A-DC0C-24C0-F519-3972241D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1E390-58D5-46F8-9BB8-613D346979AB}" type="slidenum">
              <a:rPr lang="ru-RU" altLang="en-US" smtClean="0"/>
              <a:pPr/>
              <a:t>8</a:t>
            </a:fld>
            <a:endParaRPr lang="ru-RU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671412-92A1-A67D-DE87-7FB101900F03}"/>
              </a:ext>
            </a:extLst>
          </p:cNvPr>
          <p:cNvSpPr txBox="1"/>
          <p:nvPr/>
        </p:nvSpPr>
        <p:spPr>
          <a:xfrm>
            <a:off x="828675" y="501650"/>
            <a:ext cx="6515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QR-code </a:t>
            </a:r>
            <a:r>
              <a:rPr lang="ru-RU" sz="2000" b="1" dirty="0"/>
              <a:t>на документ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9E60B56-2D5F-F6B7-BA13-99DA6F5E8B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46377" y="1733242"/>
            <a:ext cx="4100744" cy="410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741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3812</TotalTime>
  <Words>482</Words>
  <Application>Microsoft Office PowerPoint</Application>
  <PresentationFormat>Широкоэкранный</PresentationFormat>
  <Paragraphs>143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Aptos</vt:lpstr>
      <vt:lpstr>Akrobat Black</vt:lpstr>
      <vt:lpstr>Arial</vt:lpstr>
      <vt:lpstr>Akrobat</vt:lpstr>
      <vt:lpstr>等线</vt:lpstr>
      <vt:lpstr>Arial Black</vt:lpstr>
      <vt:lpstr>Calibri</vt:lpstr>
      <vt:lpstr>Aptos Display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Xiaomi</dc:creator>
  <cp:lastModifiedBy>Саня Василь</cp:lastModifiedBy>
  <cp:revision>181</cp:revision>
  <dcterms:created xsi:type="dcterms:W3CDTF">2024-09-10T07:53:00Z</dcterms:created>
  <dcterms:modified xsi:type="dcterms:W3CDTF">2026-05-28T08:27:41Z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85F69DFBD54D4A58BC3CE05CEB498B89_13</vt:lpwstr>
  </property>
  <property fmtid="{D5CDD505-2E9C-101B-9397-08002B2CF9AE}" pid="3" name="KSOProductBuildVer">
    <vt:lpwstr>1049-12.2.0.18911</vt:lpwstr>
  </property>
</Properties>
</file>