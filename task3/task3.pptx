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7"/>
  </p:notesMasterIdLst>
  <p:sldIdLst>
    <p:sldId id="267" r:id="rId2"/>
    <p:sldId id="328" r:id="rId3"/>
    <p:sldId id="280" r:id="rId4"/>
    <p:sldId id="330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86" r:id="rId13"/>
    <p:sldId id="484" r:id="rId14"/>
    <p:sldId id="485" r:id="rId15"/>
    <p:sldId id="310" r:id="rId16"/>
  </p:sldIdLst>
  <p:sldSz cx="12192000" cy="6858000"/>
  <p:notesSz cx="6858000" cy="9144000"/>
  <p:embeddedFontLst>
    <p:embeddedFont>
      <p:font typeface="等线" panose="02010600030101010101" pitchFamily="2" charset="-122"/>
      <p:regular r:id="rId18"/>
    </p:embeddedFont>
    <p:embeddedFont>
      <p:font typeface="Akrobat" panose="020B0604020202020204" charset="-52"/>
      <p:regular r:id="rId19"/>
      <p:bold r:id="rId20"/>
    </p:embeddedFont>
    <p:embeddedFont>
      <p:font typeface="Akrobat Black" panose="020B0604020202020204" charset="-52"/>
      <p:bold r:id="rId21"/>
    </p:embeddedFont>
    <p:embeddedFont>
      <p:font typeface="Arial Black" panose="020B0A04020102020204" pitchFamily="34" charset="0"/>
      <p:bold r:id="rId22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5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26.03.2026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A77F-2CD9-6621-3DF5-FCA3BD9A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C785FC09-63E0-6A56-D21D-91C0793B5F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8CDFD992-A299-E0C4-594B-D30BEA27030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EE1B3CC7-2C4A-6FF8-5350-FEC631639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2880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A277E-07D8-7EFA-17C2-B65E8F9E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B9774FFC-B204-24EF-5B46-3D6708880B9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15B14992-F499-2F88-2CF2-E23F8C2F59E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D49B2BF-3CED-BF3E-E668-46B1D709F4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6192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5721-C3F6-15EA-C434-B81DCE87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1245E25E-165C-743B-08D2-E6DBD7B7220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E007269D-1ED9-F194-197D-8E5A409C16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33EDEAB7-D9B3-8A64-8DF5-42BBD7BD3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1413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C8FC-E216-694E-04CC-3E15CA65F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C2B57986-95AA-CDB0-04FA-546B9D321A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F655779B-3CEE-7742-3A9D-CD753F641D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3DB82A82-FD4E-7A94-4F87-F352A1713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1558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8A32-BB16-908D-3DCC-4E225DAD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375A7880-6282-BE4A-087B-66CE39D1C46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F3D0306-55A7-75F2-B603-EAB1505CB2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483FC2D5-BCD4-A310-999F-067849740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7940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6077-B413-6B4F-F971-7A22A788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3C0FA350-4D7C-1844-6DA6-DCDA4FDD05C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4650755-E34B-0202-0E82-D548DCE58F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E16DF132-39A7-8B1C-67A2-B7D31995D7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9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08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4D5D-5F92-B26B-2148-7682AF1D6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55BFEA25-80E3-3BA5-032E-DB4E372BD7D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B75A8960-5587-62AB-5F3F-7281C1AAEF5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DC7A566-7EFA-CA6A-C5E7-E29512EB1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10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1575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E0B6-2189-55F7-1226-451A3802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CA6AC192-7541-5B84-C379-451CAB196D5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5583670-0269-91C9-BDB3-AFA12E7692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78CB70D-16A6-D6C7-A9EC-1E2F38E9A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0637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F649-64F5-9183-68EE-10FDC150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F1621F13-A371-6225-0E71-F910223B9A4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7DFC66D7-BABB-5662-EA86-FBC1D10B85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FC1C9573-A3B9-E968-22C2-FF5DA2A96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12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18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C12B-76E7-0CC1-555C-FB317B09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5215F10D-55B4-F27B-847A-1E6BCE2A946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939E1969-70AC-C227-183F-7ECC2CDB31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6AECE12D-0322-ACDB-1517-8774DD3958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8692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C4E8-7601-A8F5-57E1-16914C74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D31CCA03-87F1-81A9-DA4E-55D73C969B4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2649F83-ACB2-DB1E-F007-F98E5D76C6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F7B7F46-8714-B8EA-4C34-DDE64B0E2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8998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15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602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Лопатин Артём 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Васильев Александр 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latin typeface="Akrobat Black" pitchFamily="2" charset="-52"/>
              </a:rPr>
              <a:t>:</a:t>
            </a:r>
            <a:endParaRPr lang="ru-RU" altLang="zh-CN" sz="2400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965E-A9FC-E840-B336-9B52E1BF743D}"/>
              </a:ext>
            </a:extLst>
          </p:cNvPr>
          <p:cNvSpPr txBox="1"/>
          <p:nvPr/>
        </p:nvSpPr>
        <p:spPr>
          <a:xfrm>
            <a:off x="446690" y="488459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b="1" dirty="0"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E2C2-E52B-1E40-6855-646B39671DBF}"/>
              </a:ext>
            </a:extLst>
          </p:cNvPr>
          <p:cNvSpPr txBox="1"/>
          <p:nvPr/>
        </p:nvSpPr>
        <p:spPr>
          <a:xfrm>
            <a:off x="466725" y="5194300"/>
            <a:ext cx="5656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ru-RU" altLang="zh-CN" sz="1600" dirty="0">
                <a:latin typeface="Akrobat" pitchFamily="2" charset="-52"/>
              </a:rPr>
              <a:t>Сидоренко Валентина Геннадьевна – проф., доктор технических наук</a:t>
            </a:r>
            <a:endParaRPr lang="en-US" altLang="zh-CN" sz="1600" dirty="0">
              <a:latin typeface="Akrobat" pitchFamily="2" charset="-52"/>
            </a:endParaRPr>
          </a:p>
          <a:p>
            <a:pPr eaLnBrk="1" hangingPunct="1"/>
            <a:r>
              <a:rPr lang="en-US" altLang="zh-CN" sz="1600" dirty="0">
                <a:latin typeface="Akrobat" pitchFamily="2" charset="-52"/>
              </a:rPr>
              <a:t>C</a:t>
            </a:r>
            <a:r>
              <a:rPr lang="ru-RU" altLang="zh-CN" sz="1600" dirty="0" err="1">
                <a:latin typeface="Akrobat" pitchFamily="2" charset="-52"/>
              </a:rPr>
              <a:t>афронов</a:t>
            </a:r>
            <a:r>
              <a:rPr lang="ru-RU" altLang="zh-CN" sz="1600" dirty="0">
                <a:latin typeface="Akrobat" pitchFamily="2" charset="-52"/>
              </a:rPr>
              <a:t> Антон Игоревич – доцент, кандидат технических наук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0E75A-1E8A-BE03-08AE-89CA6247B855}"/>
              </a:ext>
            </a:extLst>
          </p:cNvPr>
          <p:cNvSpPr txBox="1"/>
          <p:nvPr/>
        </p:nvSpPr>
        <p:spPr>
          <a:xfrm>
            <a:off x="466725" y="577907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b="1" dirty="0">
                <a:latin typeface="Akrobat Black" pitchFamily="2" charset="-52"/>
              </a:rPr>
              <a:t>КАФЕДРА</a:t>
            </a:r>
            <a:r>
              <a:rPr lang="en-US" altLang="en-US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B9CAA-333F-9FCC-F40B-A956D0ACF885}"/>
              </a:ext>
            </a:extLst>
          </p:cNvPr>
          <p:cNvSpPr txBox="1"/>
          <p:nvPr/>
        </p:nvSpPr>
        <p:spPr>
          <a:xfrm>
            <a:off x="466725" y="6086852"/>
            <a:ext cx="3695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en-US" altLang="zh-CN" sz="2000" dirty="0">
                <a:latin typeface="Akrobat" pitchFamily="2" charset="-52"/>
              </a:rPr>
              <a:t>"</a:t>
            </a:r>
            <a:r>
              <a:rPr lang="ru-RU" altLang="zh-CN" sz="2000" dirty="0">
                <a:latin typeface="Akrobat" pitchFamily="2" charset="-52"/>
              </a:rPr>
              <a:t>Управление и защита информации</a:t>
            </a:r>
            <a:r>
              <a:rPr lang="en-US" altLang="zh-CN" sz="2000" dirty="0">
                <a:latin typeface="Akrobat" pitchFamily="2" charset="-52"/>
              </a:rPr>
              <a:t>”</a:t>
            </a:r>
            <a:r>
              <a:rPr lang="ru-RU" altLang="zh-CN" sz="2000" dirty="0">
                <a:latin typeface="Akrobat" pitchFamily="2" charset="-5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028CF-B3EB-1809-51A9-C7FF62BBF5D3}"/>
              </a:ext>
            </a:extLst>
          </p:cNvPr>
          <p:cNvSpPr txBox="1"/>
          <p:nvPr/>
        </p:nvSpPr>
        <p:spPr>
          <a:xfrm>
            <a:off x="660468" y="1386722"/>
            <a:ext cx="5038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Отчет по лабораторной работе №3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E33825-BFBE-32E6-B653-D39401D542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554" y="1322001"/>
            <a:ext cx="5666892" cy="5034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Скриншот исходного кода для вычисления потенциальной энергии пружины</a:t>
            </a:r>
            <a:r>
              <a:rPr lang="en-US" sz="2000" b="1" dirty="0"/>
              <a:t> </a:t>
            </a:r>
            <a:r>
              <a:rPr lang="ru-RU" sz="2000" b="1" dirty="0"/>
              <a:t>на языке С</a:t>
            </a:r>
          </a:p>
        </p:txBody>
      </p:sp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</a:t>
            </a:fld>
            <a:endParaRPr lang="ru-RU" alt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82B9F8-A281-238A-E715-C921050B7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940" y="1482194"/>
            <a:ext cx="5403441" cy="487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60788-9AAC-9F39-5A9F-BC3533D2762A}"/>
              </a:ext>
            </a:extLst>
          </p:cNvPr>
          <p:cNvSpPr txBox="1"/>
          <p:nvPr/>
        </p:nvSpPr>
        <p:spPr>
          <a:xfrm>
            <a:off x="828675" y="501650"/>
            <a:ext cx="651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Скриншот исходного кода для вычисления потенциальной энергии пружины</a:t>
            </a:r>
            <a:r>
              <a:rPr lang="en-US" sz="2000" b="1" dirty="0"/>
              <a:t> </a:t>
            </a:r>
            <a:r>
              <a:rPr lang="ru-RU" sz="2000" b="1" dirty="0"/>
              <a:t>конвертированного с помощью </a:t>
            </a:r>
            <a:r>
              <a:rPr lang="en-US" sz="2000" b="1" dirty="0"/>
              <a:t>ChatGPT </a:t>
            </a:r>
            <a:r>
              <a:rPr lang="ru-RU" sz="2000" b="1" dirty="0"/>
              <a:t>на </a:t>
            </a:r>
            <a:r>
              <a:rPr lang="en-US" sz="2000" b="1" dirty="0"/>
              <a:t>C#</a:t>
            </a:r>
            <a:endParaRPr lang="ru-RU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6F874-3BC1-1865-451F-FD581239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89627D06-6C0D-516A-CE08-2A11DAE796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3D1C8E3-5B1A-B7EE-8D09-074F72AD6C52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01704DA4-44C5-C95E-89CE-EE5827FE20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50E84AAC-A98F-2851-0B47-F3C2D8E5D2C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0F080154-56D9-EFB9-793D-E274B76D6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08C54C44-094F-4D9A-5044-6EF439E2D21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5FC1504-7FF6-C9A2-A1BD-05FACFC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FF5C5-EAC8-3B1E-4A63-9628DE2A3D95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 err="1"/>
              <a:t>ILSpy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ECAC41-2D18-F17C-9272-9F7AE496A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20" y="1476023"/>
            <a:ext cx="3744104" cy="3905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61FECD-230D-EB43-35CC-7176DC7A44CE}"/>
              </a:ext>
            </a:extLst>
          </p:cNvPr>
          <p:cNvSpPr txBox="1"/>
          <p:nvPr/>
        </p:nvSpPr>
        <p:spPr>
          <a:xfrm>
            <a:off x="6096000" y="3059667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Дерево программы в </a:t>
            </a:r>
            <a:r>
              <a:rPr lang="ru-RU" dirty="0" err="1"/>
              <a:t>декомпиляторе</a:t>
            </a:r>
            <a:r>
              <a:rPr lang="ru-RU" dirty="0"/>
              <a:t> </a:t>
            </a:r>
            <a:r>
              <a:rPr lang="en-US" dirty="0" err="1"/>
              <a:t>ILSpy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357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27C20-2B02-9A2A-5E79-6F3DB8A7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C41D7903-70BA-104E-BA56-BD89CA32B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20EF384-7042-7117-782D-0333A6EC7616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CBA94C2B-B0E2-61CE-6110-AF6F9BB31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60DE3CB-7B3F-FECC-E9F5-BDD071DBB61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C310F74-9EEB-219C-A665-F147BA469C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5293C734-A19D-2F59-CD90-B92BF86A0EB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1F98EF7-9B69-C95C-AD62-09DC7554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D38E2-37CB-A0AC-99D4-058B2DF27D10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 err="1"/>
              <a:t>ILSpy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9FE733-08FC-3CEF-688F-392D3B90F0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323" y="1331573"/>
            <a:ext cx="4686072" cy="4194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B4072-1E81-EC18-92CA-3997C1F5F31F}"/>
              </a:ext>
            </a:extLst>
          </p:cNvPr>
          <p:cNvSpPr txBox="1"/>
          <p:nvPr/>
        </p:nvSpPr>
        <p:spPr>
          <a:xfrm>
            <a:off x="6096000" y="2833798"/>
            <a:ext cx="5391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результате декомпиляции был получен исходный код на языке C#, который практически полностью соответствует оригинальному коду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290441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D6D43-59F5-9103-82DF-492F4F06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8EAB628D-E435-BEAF-CDFF-B2BCF97D52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C58BB49-4E6D-0FEA-156E-9866E4C04BF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46DE6ABF-9BAC-0E38-BAEE-4CECAB0A8C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762842B-B221-E559-96A1-11EBE620EBC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F08D8212-EBAA-0B80-4E69-DB127BF72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7E36F3-B583-0E30-51D1-6E1CFB46E34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81F0FD-2DA5-4FE0-5AAF-3598719D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EA812-A01C-8AE2-D0E0-13F769DA2521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 err="1"/>
              <a:t>ILSpy</a:t>
            </a: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A8D1CF-A8BE-8567-61ED-D7203577F1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20" y="1338247"/>
            <a:ext cx="2777266" cy="49759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EEE144-CDE2-6CE5-A738-DCFE04E38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7386" y="1338247"/>
            <a:ext cx="2747245" cy="49759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8BFF64-BB3B-97E2-0203-F485A0818608}"/>
              </a:ext>
            </a:extLst>
          </p:cNvPr>
          <p:cNvSpPr txBox="1"/>
          <p:nvPr/>
        </p:nvSpPr>
        <p:spPr>
          <a:xfrm>
            <a:off x="6800781" y="2828835"/>
            <a:ext cx="4713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Также был получен промежуточный язык IL</a:t>
            </a:r>
            <a:r>
              <a:rPr lang="en-US" dirty="0"/>
              <a:t>, </a:t>
            </a:r>
            <a:r>
              <a:rPr lang="ru-RU" dirty="0"/>
              <a:t>представляющий собой низкоуровневое представление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8967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FB41D-7422-5A51-A67F-A548718C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C052B038-E286-C87F-B3AD-0BC8AEA0D9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3936DF9-8EB3-4A1F-FF43-D6377636B8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64441088-BBF4-81F9-0661-9174D165F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5317834-888D-7216-FE77-E9E145DED40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4AAA818-0F84-39EA-0120-801B8EFBF1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562C615B-FEB6-4BD7-A245-BBB222C5092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349767-DF51-257B-847E-9CCE2E02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7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B2580-ECC2-391D-7286-448066D5587D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.NET Reflector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59B594-FE01-9FD6-E328-D55D2A828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224" y="1375604"/>
            <a:ext cx="2448577" cy="4753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A97C32-3AC4-B777-FA61-58557D9DE139}"/>
              </a:ext>
            </a:extLst>
          </p:cNvPr>
          <p:cNvSpPr txBox="1"/>
          <p:nvPr/>
        </p:nvSpPr>
        <p:spPr>
          <a:xfrm>
            <a:off x="6096000" y="3059667"/>
            <a:ext cx="5391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Структура программы в </a:t>
            </a:r>
            <a:r>
              <a:rPr lang="ru-RU" dirty="0" err="1"/>
              <a:t>декомпиляторе</a:t>
            </a:r>
            <a:r>
              <a:rPr lang="ru-RU" dirty="0"/>
              <a:t> </a:t>
            </a:r>
            <a:r>
              <a:rPr lang="en-US" dirty="0"/>
              <a:t>.NET Reflector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637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85257-7DA2-04D8-22D9-9677E03C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E8E67570-6083-C91A-AFA4-1F2B66176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C3C2338-8521-D5BE-62D8-3AEE810B5B6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B1BA9F1-A322-D228-C6E8-9CF55205A5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3FB56F35-1938-FE12-0B38-3BFBC997DD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231A612B-1302-98D0-456B-A0C8B2B9D5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5BD5278-CCFE-1D74-9D51-E8B59222927B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F5FB57-9FAB-D7A3-D4F3-95D85612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B5B5C-DF67-88A4-7676-46E373348A01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.NET Reflector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CCB76-3A5B-EC2D-477B-61979B1F5EF3}"/>
              </a:ext>
            </a:extLst>
          </p:cNvPr>
          <p:cNvSpPr txBox="1"/>
          <p:nvPr/>
        </p:nvSpPr>
        <p:spPr>
          <a:xfrm>
            <a:off x="6096000" y="2963127"/>
            <a:ext cx="5391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результате декомпиляции была получена структура программы, практически полностью совпадающая с оригинальной.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EF4711-0E65-DC54-9E67-C6981B2E6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20" y="1536797"/>
            <a:ext cx="3677163" cy="8192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248B969-5155-A30C-5D50-C19018985A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120" y="2309212"/>
            <a:ext cx="3677163" cy="276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4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E8FCF-6F5C-A78D-2C32-665ACF7C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6DF5B5D0-995A-3487-B4C6-9F0BFD08C4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F166354-0628-3711-0B7C-F7F06D7F6777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5E75FC97-13CF-3F0D-4E89-59E29767EA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32DA323-C7F5-F68B-2897-0AC35E0563E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A6450741-AAFF-EA5E-ACBE-7D201A2AEF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C638AFC8-F398-E662-08F7-0EBB0C3678BB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726B44-DF22-048A-97DC-0D864382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9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2EAFC-6D54-7447-CB5D-FC2E3A186BFB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.NET Reflector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048E1-812F-4560-0CD3-6EC89765641D}"/>
              </a:ext>
            </a:extLst>
          </p:cNvPr>
          <p:cNvSpPr txBox="1"/>
          <p:nvPr/>
        </p:nvSpPr>
        <p:spPr>
          <a:xfrm>
            <a:off x="7164279" y="3105169"/>
            <a:ext cx="5027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Полученный </a:t>
            </a:r>
            <a:r>
              <a:rPr lang="en-US" dirty="0"/>
              <a:t>IL </a:t>
            </a:r>
            <a:r>
              <a:rPr lang="ru-RU" dirty="0"/>
              <a:t>код аналогичен результатам </a:t>
            </a:r>
            <a:r>
              <a:rPr lang="ru-RU" dirty="0" err="1"/>
              <a:t>ILSpy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F040BF-0544-BD37-1B17-5276A0E710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85" y="2169614"/>
            <a:ext cx="3654944" cy="20841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A17AA9-438C-B3F2-E373-9F397D2DC8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1"/>
          <a:stretch>
            <a:fillRect/>
          </a:stretch>
        </p:blipFill>
        <p:spPr>
          <a:xfrm>
            <a:off x="3825729" y="972167"/>
            <a:ext cx="3142999" cy="563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1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D50BA-B920-E142-2B11-A6DA490B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45837D35-4773-93C2-7A7C-7DC487CB0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356E461B-6F5B-815D-D046-9054A8759CF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8500F2-4489-BE1C-DF76-4AC3019D8B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B8911621-397B-3CA9-3400-D6F923450D9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0F2A98BA-6319-F1C9-0CA3-5C4BFDECA4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B3276C61-ABCD-9319-5907-027B91664DEB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57F07B-491E-5BB2-B88A-52A97CE7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10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D8BC9-A61A-D4D8-8EB7-90261DA8EAB6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 </a:t>
            </a:r>
            <a:r>
              <a:rPr lang="ru-RU" b="1" dirty="0"/>
              <a:t>с помощью </a:t>
            </a:r>
            <a:r>
              <a:rPr lang="en-US" b="1" dirty="0" err="1"/>
              <a:t>ILSpy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53D2A-8341-21B4-C878-087461BD2FB5}"/>
              </a:ext>
            </a:extLst>
          </p:cNvPr>
          <p:cNvSpPr txBox="1"/>
          <p:nvPr/>
        </p:nvSpPr>
        <p:spPr>
          <a:xfrm>
            <a:off x="1584268" y="3748395"/>
            <a:ext cx="9023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попытке анализа программы, написанной на языке C++, было получено сообщение о том, что файл не содержит управляемых метаданных.</a:t>
            </a:r>
            <a:br>
              <a:rPr lang="ru-RU" dirty="0"/>
            </a:br>
            <a:r>
              <a:rPr lang="ru-RU" dirty="0"/>
              <a:t>Это связано с тем, что программа является нативной и не относится к платформе .NET.</a:t>
            </a:r>
            <a:br>
              <a:rPr lang="ru-RU" dirty="0"/>
            </a:br>
            <a:r>
              <a:rPr lang="ru-RU" dirty="0"/>
              <a:t>В связи с этим декомпиляция средствами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 невозможна.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2B298B-70C9-68C0-BE97-2C0238547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366" y="2016301"/>
            <a:ext cx="9743263" cy="10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0E63D-CB16-69CA-1665-515B77D6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D2C22799-1E2D-325F-8BAC-7C6915E9E4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B213E0B-EB8B-59ED-C0A5-0E753B269C2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D972D43B-7DBA-4A98-A1BA-6FFF87DEA9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8A075BBB-B693-7F21-88F4-BDD2AE6C45C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E319B8E-A70D-E225-54B4-7C6E05D75B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D8B58667-5BC2-F982-4D47-EB61E1F2E30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E2FB817-DEF1-600C-75CD-86B69008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11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E9D3F-BE5F-8BB8-EC57-BA209EF02719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010 Editor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2E5832-74A8-2222-0958-A077CD78C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20" y="1422171"/>
            <a:ext cx="5032172" cy="4832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72363A-BA34-E378-9B63-824AF4FBF4B9}"/>
              </a:ext>
            </a:extLst>
          </p:cNvPr>
          <p:cNvSpPr txBox="1"/>
          <p:nvPr/>
        </p:nvSpPr>
        <p:spPr>
          <a:xfrm>
            <a:off x="6374168" y="1997839"/>
            <a:ext cx="5637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Исполняемый файл программы был проанализирован с использованием </a:t>
            </a:r>
            <a:r>
              <a:rPr lang="ru-RU" dirty="0" err="1"/>
              <a:t>hex</a:t>
            </a:r>
            <a:r>
              <a:rPr lang="ru-RU" dirty="0"/>
              <a:t>-редактора 010 Editor.</a:t>
            </a:r>
            <a:br>
              <a:rPr lang="ru-RU" dirty="0"/>
            </a:br>
            <a:r>
              <a:rPr lang="ru-RU" dirty="0"/>
              <a:t>Было установлено, что двоичный код программы расположен в секции .</a:t>
            </a:r>
            <a:r>
              <a:rPr lang="ru-RU" dirty="0" err="1"/>
              <a:t>text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Начало секции определяется значением </a:t>
            </a:r>
            <a:r>
              <a:rPr lang="ru-RU" dirty="0" err="1"/>
              <a:t>PointerToRawData</a:t>
            </a:r>
            <a:r>
              <a:rPr lang="ru-RU" dirty="0"/>
              <a:t> (0x400), а её размер — </a:t>
            </a:r>
            <a:r>
              <a:rPr lang="ru-RU" dirty="0" err="1"/>
              <a:t>SizeOfRawData</a:t>
            </a:r>
            <a:r>
              <a:rPr lang="ru-RU" dirty="0"/>
              <a:t> (0x18400).</a:t>
            </a:r>
            <a:br>
              <a:rPr lang="ru-RU" dirty="0"/>
            </a:br>
            <a:r>
              <a:rPr lang="ru-RU" dirty="0"/>
              <a:t>Таким образом, код программы занимает диапазон адресов от 0x400 до 0x18800.</a:t>
            </a:r>
          </a:p>
        </p:txBody>
      </p:sp>
    </p:spTree>
    <p:extLst>
      <p:ext uri="{BB962C8B-B14F-4D97-AF65-F5344CB8AC3E}">
        <p14:creationId xmlns:p14="http://schemas.microsoft.com/office/powerpoint/2010/main" val="210002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A82DA-5863-123A-04BF-BC9A4FCD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37D61036-9304-A09D-3833-1679AF3A0F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0A039CD-FA66-3733-BAF8-4A9778DBE92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A145966-6136-1414-D02B-9827ECB5A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6B1EF88-2EC9-C953-D961-B0409571F20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11397B63-F292-A8AA-DBEA-38B6662521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34DE4976-F7CE-AE1F-7F95-D89BE303928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B14562-F17C-27CA-9A94-3CB62452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12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18C483-3A9B-F3FF-170A-B846A20656A1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010 Editor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9A153-D874-3B2C-22C8-167A81A5793B}"/>
              </a:ext>
            </a:extLst>
          </p:cNvPr>
          <p:cNvSpPr txBox="1"/>
          <p:nvPr/>
        </p:nvSpPr>
        <p:spPr>
          <a:xfrm>
            <a:off x="6521339" y="3214563"/>
            <a:ext cx="5637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Дамп памяти с использование </a:t>
            </a:r>
            <a:r>
              <a:rPr lang="en-US" dirty="0"/>
              <a:t>Hex-</a:t>
            </a:r>
            <a:r>
              <a:rPr lang="ru-RU" dirty="0"/>
              <a:t>редактора 010 </a:t>
            </a:r>
            <a:r>
              <a:rPr lang="en-US" dirty="0"/>
              <a:t>Editor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32638D-738C-D63F-00F9-3FBB7F662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362" y="1209881"/>
            <a:ext cx="5169031" cy="53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49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844D5-34D7-6E48-A6C7-4B1CEB4F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8A0313E4-3BFD-C11E-9411-78ACC04B90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52997F8-A019-3867-E203-760D8487F2F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3F814A5-E747-D164-73BB-97646E8E9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ED4B36F-DF7D-C962-D1B9-8F7AAEF8E4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73D7F54-B743-E72B-BB29-FEA8721E73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C34DE-8B71-74B0-13B1-ABCC12EB0428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BF08AC5-A737-DC8B-F1A7-8E46877A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13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64864-5C1B-4048-B71C-67AE88A17977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010 Editor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30245-9441-E1BA-4E72-4A9CCE06BF5B}"/>
              </a:ext>
            </a:extLst>
          </p:cNvPr>
          <p:cNvSpPr txBox="1"/>
          <p:nvPr/>
        </p:nvSpPr>
        <p:spPr>
          <a:xfrm>
            <a:off x="6326030" y="2611170"/>
            <a:ext cx="5637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анализа исполняемого файла была рассчитана энтропия с использованием </a:t>
            </a:r>
            <a:r>
              <a:rPr lang="ru-RU" dirty="0" err="1"/>
              <a:t>hex</a:t>
            </a:r>
            <a:r>
              <a:rPr lang="ru-RU" dirty="0"/>
              <a:t>-редактора 010 Editor.</a:t>
            </a:r>
            <a:br>
              <a:rPr lang="ru-RU" dirty="0"/>
            </a:br>
            <a:r>
              <a:rPr lang="ru-RU" dirty="0"/>
              <a:t>Значение энтропии составило </a:t>
            </a:r>
            <a:r>
              <a:rPr lang="en-US" dirty="0"/>
              <a:t>4</a:t>
            </a:r>
            <a:r>
              <a:rPr lang="ru-RU" dirty="0"/>
              <a:t>.</a:t>
            </a:r>
            <a:r>
              <a:rPr lang="en-US" dirty="0"/>
              <a:t>16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D87934-25B8-935A-FC09-C15111C9E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313" y="2081489"/>
            <a:ext cx="5655687" cy="225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08384-2A17-41E6-11EA-9208FB0B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E5142DF8-BF0D-C665-A2C7-6C65733D2D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D81F6C7-EC90-6270-0892-1C39BC42F13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F9B623D-DE2A-958D-5915-8B2CE32D9B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2AC89656-1E57-5BEF-2D78-F8753213974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F30F2D28-0528-FE3F-A346-3733967D2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EEDBB717-2289-1593-DE5A-1C0A8016006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C042991-FBF6-01D2-5BB8-D1EF7D79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14</a:t>
            </a:fld>
            <a:endParaRPr lang="ru-R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C2CD4-8764-DE3D-CAE5-1933CD45D0C2}"/>
              </a:ext>
            </a:extLst>
          </p:cNvPr>
          <p:cNvSpPr txBox="1"/>
          <p:nvPr/>
        </p:nvSpPr>
        <p:spPr>
          <a:xfrm>
            <a:off x="1130120" y="602835"/>
            <a:ext cx="539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Анализ файла </a:t>
            </a:r>
            <a:r>
              <a:rPr lang="en-US" b="1" dirty="0"/>
              <a:t>C# </a:t>
            </a:r>
            <a:r>
              <a:rPr lang="ru-RU" b="1" dirty="0"/>
              <a:t>с помощью </a:t>
            </a:r>
            <a:r>
              <a:rPr lang="en-US" b="1" dirty="0"/>
              <a:t>010 Editor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0BF1C-533B-ED75-E32B-0B6A15FA2177}"/>
              </a:ext>
            </a:extLst>
          </p:cNvPr>
          <p:cNvSpPr txBox="1"/>
          <p:nvPr/>
        </p:nvSpPr>
        <p:spPr>
          <a:xfrm>
            <a:off x="6326030" y="2611170"/>
            <a:ext cx="5637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Также была рассчитано количество строк с использованием </a:t>
            </a:r>
            <a:r>
              <a:rPr lang="ru-RU" dirty="0" err="1"/>
              <a:t>hex</a:t>
            </a:r>
            <a:r>
              <a:rPr lang="ru-RU" dirty="0"/>
              <a:t>-редактора 010 Editor.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6CF41D-1F60-442D-05D1-7ED3C70A6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885" y="1462760"/>
            <a:ext cx="5721115" cy="429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23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7C1977C-F3A6-4A26-88B1-73C68E8E98AF}"/>
              </a:ext>
            </a:extLst>
          </p:cNvPr>
          <p:cNvSpPr txBox="1"/>
          <p:nvPr/>
        </p:nvSpPr>
        <p:spPr>
          <a:xfrm>
            <a:off x="519006" y="331046"/>
            <a:ext cx="68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Вывод</a:t>
            </a:r>
            <a:r>
              <a:rPr lang="en-US" sz="2800" dirty="0"/>
              <a:t>:</a:t>
            </a:r>
            <a:endParaRPr lang="ru-R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2A006-0A85-4B28-9C6E-B918AAA1019D}"/>
              </a:ext>
            </a:extLst>
          </p:cNvPr>
          <p:cNvSpPr txBox="1"/>
          <p:nvPr/>
        </p:nvSpPr>
        <p:spPr>
          <a:xfrm>
            <a:off x="876300" y="2551837"/>
            <a:ext cx="10439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ru-RU" dirty="0"/>
              <a:t>Конвертация программы с языка C на C# была выполнена с первой попытки</a:t>
            </a:r>
          </a:p>
          <a:p>
            <a:pPr marL="342900" indent="-342900" algn="just">
              <a:buAutoNum type="arabicPeriod"/>
            </a:pPr>
            <a:r>
              <a:rPr lang="ru-RU" dirty="0"/>
              <a:t>Анализ программы на C# с использованием </a:t>
            </a:r>
            <a:r>
              <a:rPr lang="ru-RU" dirty="0" err="1"/>
              <a:t>декомпиляторов</a:t>
            </a:r>
            <a:r>
              <a:rPr lang="ru-RU" dirty="0"/>
              <a:t>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 показал, что исходный код восстанавливается с высокой точностью, а структура программы практически полностью совпадает с оригинальной.</a:t>
            </a:r>
          </a:p>
          <a:p>
            <a:pPr marL="342900" indent="-342900" algn="just">
              <a:buAutoNum type="arabicPeriod"/>
            </a:pPr>
            <a:r>
              <a:rPr lang="ru-RU" dirty="0"/>
              <a:t>При анализе программы на языке C установлено, что нативные приложения не содержат управляемых метаданных и не могут быть декомпилированы средствами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.</a:t>
            </a:r>
            <a:endParaRPr lang="en-US" dirty="0"/>
          </a:p>
          <a:p>
            <a:pPr marL="342900" indent="-342900" algn="just">
              <a:buAutoNum type="arabicPeriod"/>
            </a:pPr>
            <a:r>
              <a:rPr lang="ru-RU" dirty="0"/>
              <a:t>При анализе программы в </a:t>
            </a:r>
            <a:r>
              <a:rPr lang="en-US" dirty="0" err="1"/>
              <a:t>.Net</a:t>
            </a:r>
            <a:r>
              <a:rPr lang="en-US" dirty="0"/>
              <a:t> Reflector </a:t>
            </a:r>
            <a:r>
              <a:rPr lang="ru-RU" dirty="0"/>
              <a:t>было замечено, что отображение кода может отличаться от результатов </a:t>
            </a:r>
            <a:r>
              <a:rPr lang="en-US" dirty="0" err="1"/>
              <a:t>Ilspy</a:t>
            </a:r>
            <a:r>
              <a:rPr lang="ru-RU" dirty="0"/>
              <a:t>, в частности используется иная кодировка символов</a:t>
            </a:r>
            <a:r>
              <a:rPr lang="en-US" dirty="0"/>
              <a:t>.</a:t>
            </a:r>
            <a:endParaRPr lang="ru-RU" dirty="0"/>
          </a:p>
          <a:p>
            <a:pPr marL="342900" indent="-342900" algn="just">
              <a:buAutoNum type="arabicPeriod"/>
            </a:pPr>
            <a:r>
              <a:rPr lang="ru-RU" dirty="0"/>
              <a:t>Также наблюдаются различия в записи числовых значений, что связано с особенностями декомпиляции и внутренними настройками инструмента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4322CB-B61A-4DDC-8A8C-845EE18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15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149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3282</TotalTime>
  <Words>526</Words>
  <Application>Microsoft Office PowerPoint</Application>
  <PresentationFormat>Широкоэкранный</PresentationFormat>
  <Paragraphs>69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Akrobat</vt:lpstr>
      <vt:lpstr>Arial</vt:lpstr>
      <vt:lpstr>等线</vt:lpstr>
      <vt:lpstr>Aptos</vt:lpstr>
      <vt:lpstr>Aptos Display</vt:lpstr>
      <vt:lpstr>Akrobat Black</vt:lpstr>
      <vt:lpstr>Arial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Саня Василь</cp:lastModifiedBy>
  <cp:revision>174</cp:revision>
  <dcterms:created xsi:type="dcterms:W3CDTF">2024-09-10T07:53:00Z</dcterms:created>
  <dcterms:modified xsi:type="dcterms:W3CDTF">2026-03-26T08:40:39Z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